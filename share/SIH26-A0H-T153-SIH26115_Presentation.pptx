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9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vana selvan" userId="9ba501f53c461a81" providerId="LiveId" clId="{C9A7825C-C925-4BB7-BDD5-464955FFE4CC}"/>
    <pc:docChg chg="custSel addSld delSld modSld sldOrd">
      <pc:chgData name="saravana selvan" userId="9ba501f53c461a81" providerId="LiveId" clId="{C9A7825C-C925-4BB7-BDD5-464955FFE4CC}" dt="2026-08-30T06:19:24.053" v="10" actId="14100"/>
      <pc:docMkLst>
        <pc:docMk/>
      </pc:docMkLst>
      <pc:sldChg chg="addSp delSp modSp new mod ord">
        <pc:chgData name="saravana selvan" userId="9ba501f53c461a81" providerId="LiveId" clId="{C9A7825C-C925-4BB7-BDD5-464955FFE4CC}" dt="2026-08-30T06:19:24.053" v="10" actId="14100"/>
        <pc:sldMkLst>
          <pc:docMk/>
          <pc:sldMk cId="101019305" sldId="262"/>
        </pc:sldMkLst>
        <pc:picChg chg="add del mod">
          <ac:chgData name="saravana selvan" userId="9ba501f53c461a81" providerId="LiveId" clId="{C9A7825C-C925-4BB7-BDD5-464955FFE4CC}" dt="2026-08-30T06:18:44.061" v="7" actId="478"/>
          <ac:picMkLst>
            <pc:docMk/>
            <pc:sldMk cId="101019305" sldId="262"/>
            <ac:picMk id="3" creationId="{6D360D9B-FD86-3A13-C17B-C69DC2B99EBD}"/>
          </ac:picMkLst>
        </pc:picChg>
        <pc:picChg chg="add mod">
          <ac:chgData name="saravana selvan" userId="9ba501f53c461a81" providerId="LiveId" clId="{C9A7825C-C925-4BB7-BDD5-464955FFE4CC}" dt="2026-08-30T06:19:24.053" v="10" actId="14100"/>
          <ac:picMkLst>
            <pc:docMk/>
            <pc:sldMk cId="101019305" sldId="262"/>
            <ac:picMk id="5" creationId="{16B076B1-8620-52E3-388F-8D91BB57DB10}"/>
          </ac:picMkLst>
        </pc:picChg>
      </pc:sldChg>
      <pc:sldChg chg="del">
        <pc:chgData name="saravana selvan" userId="9ba501f53c461a81" providerId="LiveId" clId="{C9A7825C-C925-4BB7-BDD5-464955FFE4CC}" dt="2026-08-30T06:17:03.585" v="0" actId="47"/>
        <pc:sldMkLst>
          <pc:docMk/>
          <pc:sldMk cId="3582729248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B076B1-8620-52E3-388F-8D91BB57D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9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0" y="62179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  <a:latin typeface="Arial"/>
              </a:defRPr>
            </a:pPr>
            <a:r>
              <a:rPr dirty="0"/>
              <a:t>EKO E-MED BOT - PROBLEM &amp;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474720" cy="146304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B4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t>The Challenge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• Regulatory Sorting Strain: Manual sorting often violates strict CPCB guidelines due to high staff shifts.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• Traceability Deficit: Paper logs cause enormous compliance tracking gaps internally.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645920"/>
            <a:ext cx="3474720" cy="146304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F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t>Why it Matters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• Occupational Infection: Manual handling risks hazardous needle-stick exposure and blood pathogen contact.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• Nosocomial Spread: Open waste transport drives airborne contamination loops across 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7132320" cy="1463040"/>
          </a:xfrm>
          <a:prstGeom prst="roundRect">
            <a:avLst/>
          </a:prstGeom>
          <a:solidFill>
            <a:srgbClr val="F2F8F2"/>
          </a:solidFill>
          <a:ln w="19050">
            <a:solidFill>
              <a:srgbClr val="BE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t>Design Mandate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• Modular Payload Chassis: Adaptable frame holding 4 hermetically sealed, color-coded lockable compartments.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• Edge Autonomous Logic: High-speed local machine vision sorting operating natively without active internet requirements.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• Tamper-Proof Audit Vault: Secure decentralized digital storage saving every logging variable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45920"/>
            <a:ext cx="3962095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>
              <a:spcAft>
                <a:spcPts val="1400"/>
              </a:spcAft>
              <a:defRPr sz="1500" b="1">
                <a:solidFill>
                  <a:srgbClr val="102C57"/>
                </a:solidFill>
              </a:defRPr>
            </a:pPr>
            <a:r>
              <a:t>PROBLEM &amp; SOLUTION FLOW</a:t>
            </a:r>
          </a:p>
          <a:p>
            <a:pPr>
              <a:spcAft>
                <a:spcPts val="200"/>
              </a:spcAft>
              <a:defRPr sz="1100" b="1">
                <a:solidFill>
                  <a:srgbClr val="1E90FF"/>
                </a:solidFill>
              </a:defRPr>
            </a:pPr>
            <a:r>
              <a:t>⬇ UNSAFE MANUAL HANDLING</a:t>
            </a:r>
          </a:p>
          <a:p>
            <a:pPr>
              <a:spcAft>
                <a:spcPts val="1000"/>
              </a:spcAft>
              <a:defRPr sz="1000">
                <a:solidFill>
                  <a:srgbClr val="282828"/>
                </a:solidFill>
              </a:defRPr>
            </a:pPr>
            <a:r>
              <a:t>  High contagion risk cross-corridors + severe staff injury vulnerability.</a:t>
            </a:r>
          </a:p>
          <a:p>
            <a:pPr>
              <a:spcAft>
                <a:spcPts val="200"/>
              </a:spcAft>
              <a:defRPr sz="1100" b="1">
                <a:solidFill>
                  <a:srgbClr val="1E90FF"/>
                </a:solidFill>
              </a:defRPr>
            </a:pPr>
            <a:r>
              <a:t>⬇ EKO E-MED BOT MOBILE UNIT</a:t>
            </a:r>
          </a:p>
          <a:p>
            <a:pPr>
              <a:spcAft>
                <a:spcPts val="1000"/>
              </a:spcAft>
              <a:defRPr sz="1000">
                <a:solidFill>
                  <a:srgbClr val="282828"/>
                </a:solidFill>
              </a:defRPr>
            </a:pPr>
            <a:r>
              <a:t>  360° LiDAR mapping + continuous, collision-aware safe round collection schedules.</a:t>
            </a:r>
          </a:p>
          <a:p>
            <a:pPr>
              <a:spcAft>
                <a:spcPts val="200"/>
              </a:spcAft>
              <a:defRPr sz="1100" b="1">
                <a:solidFill>
                  <a:srgbClr val="1E90FF"/>
                </a:solidFill>
              </a:defRPr>
            </a:pPr>
            <a:r>
              <a:t>⬇ AI DRIVEN ASSISTED SEGREGATION</a:t>
            </a:r>
          </a:p>
          <a:p>
            <a:pPr>
              <a:spcAft>
                <a:spcPts val="1000"/>
              </a:spcAft>
              <a:defRPr sz="1000">
                <a:solidFill>
                  <a:srgbClr val="282828"/>
                </a:solidFill>
              </a:defRPr>
            </a:pPr>
            <a:r>
              <a:t>  Edge TinyML sorting matrix + fail-safe mechanical HOLD routing for high ambiguity components.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60"/>
            <a:ext cx="7132320" cy="1097280"/>
          </a:xfrm>
          <a:prstGeom prst="roundRect">
            <a:avLst/>
          </a:prstGeom>
          <a:solidFill>
            <a:srgbClr val="FFF5EB"/>
          </a:solidFill>
          <a:ln w="19050">
            <a:solidFill>
              <a:srgbClr val="F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t>Who It Serves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• Hospitals &amp; PHCs: Drastically insulates cleaning personnel from dynamic infectious spill exposures.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• Waste Operators (CBWTFs) &amp; CPCB Regulators: Delivers flawless, pre-segregated loads ensuring audit transparency.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0D26F1-0384-9F01-289C-5F621AF38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0" y="98447"/>
            <a:ext cx="737680" cy="804742"/>
          </a:xfrm>
          <a:prstGeom prst="rect">
            <a:avLst/>
          </a:prstGeom>
        </p:spPr>
      </p:pic>
      <p:pic>
        <p:nvPicPr>
          <p:cNvPr id="13" name="Picture 12" descr="image.jpg">
            <a:extLst>
              <a:ext uri="{FF2B5EF4-FFF2-40B4-BE49-F238E27FC236}">
                <a16:creationId xmlns:a16="http://schemas.microsoft.com/office/drawing/2014/main" id="{C152A479-8F8C-237A-AED6-C6C0B8658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09728"/>
            <a:ext cx="141732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0866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  <a:latin typeface="Arial"/>
              </a:defRPr>
            </a:pPr>
            <a:r>
              <a:rPr dirty="0"/>
              <a:t>AI, NAVIGATION &amp; SAFETY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1E1E"/>
                </a:solidFill>
              </a:defRPr>
            </a:pPr>
            <a:r>
              <a:t>EKO E-MED BOT implements decentralized physical interlocks — the system never auto-disposes on an AI guess.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6217920" cy="3931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02C57"/>
                </a:solidFill>
              </a:defRPr>
            </a:pPr>
            <a:r>
              <a:rPr dirty="0"/>
              <a:t>ATTRIBUTE-AWARE CLASSIFICATION PIPELINE</a:t>
            </a:r>
          </a:p>
          <a:p>
            <a:pPr>
              <a:spcAft>
                <a:spcPts val="100"/>
              </a:spcAft>
              <a:defRPr sz="1100" b="1">
                <a:solidFill>
                  <a:srgbClr val="102C57"/>
                </a:solidFill>
              </a:defRPr>
            </a:pPr>
            <a:r>
              <a:rPr dirty="0"/>
              <a:t>1. Multi-Spectral Input Processing</a:t>
            </a:r>
          </a:p>
          <a:p>
            <a:pPr>
              <a:spcAft>
                <a:spcPts val="600"/>
              </a:spcAft>
              <a:defRPr sz="1000">
                <a:solidFill>
                  <a:srgbClr val="282828"/>
                </a:solidFill>
              </a:defRPr>
            </a:pPr>
            <a:r>
              <a:rPr dirty="0"/>
              <a:t>RGB-D depth optics extract localized object contours, tags, and precise volumetric size matrices.</a:t>
            </a:r>
          </a:p>
          <a:p>
            <a:pPr>
              <a:spcAft>
                <a:spcPts val="100"/>
              </a:spcAft>
              <a:defRPr sz="1100" b="1">
                <a:solidFill>
                  <a:srgbClr val="102C57"/>
                </a:solidFill>
              </a:defRPr>
            </a:pPr>
            <a:r>
              <a:rPr dirty="0"/>
              <a:t>2. Real-Time Local </a:t>
            </a:r>
            <a:r>
              <a:rPr dirty="0" err="1"/>
              <a:t>TinyML</a:t>
            </a:r>
            <a:r>
              <a:rPr dirty="0"/>
              <a:t> Evaluation</a:t>
            </a:r>
          </a:p>
          <a:p>
            <a:pPr>
              <a:spcAft>
                <a:spcPts val="600"/>
              </a:spcAft>
              <a:defRPr sz="1000">
                <a:solidFill>
                  <a:srgbClr val="282828"/>
                </a:solidFill>
              </a:defRPr>
            </a:pPr>
            <a:r>
              <a:rPr dirty="0"/>
              <a:t>Quantized YOLOv8 models compute a localized bounding array with a strict confidence threshold matrix.</a:t>
            </a:r>
          </a:p>
          <a:p>
            <a:pPr>
              <a:spcAft>
                <a:spcPts val="100"/>
              </a:spcAft>
              <a:defRPr sz="1100" b="1">
                <a:solidFill>
                  <a:srgbClr val="102C57"/>
                </a:solidFill>
              </a:defRPr>
            </a:pPr>
            <a:r>
              <a:rPr dirty="0"/>
              <a:t>3. National Rule Matrix Compliance</a:t>
            </a:r>
          </a:p>
          <a:p>
            <a:pPr>
              <a:spcAft>
                <a:spcPts val="600"/>
              </a:spcAft>
              <a:defRPr sz="1000">
                <a:solidFill>
                  <a:srgbClr val="282828"/>
                </a:solidFill>
              </a:defRPr>
            </a:pPr>
            <a:r>
              <a:rPr dirty="0"/>
              <a:t>Decentralized rule layers dynamically verify current CPCB 2016 sorting parameters to match appropriate bins.</a:t>
            </a:r>
          </a:p>
          <a:p>
            <a:pPr>
              <a:spcAft>
                <a:spcPts val="100"/>
              </a:spcAft>
              <a:defRPr sz="1100" b="1">
                <a:solidFill>
                  <a:srgbClr val="102C57"/>
                </a:solidFill>
              </a:defRPr>
            </a:pPr>
            <a:r>
              <a:rPr dirty="0"/>
              <a:t>4. Mechanical Safety Interlock Check</a:t>
            </a:r>
          </a:p>
          <a:p>
            <a:pPr>
              <a:spcAft>
                <a:spcPts val="600"/>
              </a:spcAft>
              <a:defRPr sz="1000">
                <a:solidFill>
                  <a:srgbClr val="282828"/>
                </a:solidFill>
              </a:defRPr>
            </a:pPr>
            <a:r>
              <a:rPr dirty="0"/>
              <a:t>Optical confirmation checks verify active path alignments before opening any collection door mechanics.</a:t>
            </a:r>
          </a:p>
          <a:p>
            <a:pPr>
              <a:spcAft>
                <a:spcPts val="100"/>
              </a:spcAft>
              <a:defRPr sz="1100" b="1">
                <a:solidFill>
                  <a:srgbClr val="102C57"/>
                </a:solidFill>
              </a:defRPr>
            </a:pPr>
            <a:r>
              <a:rPr dirty="0"/>
              <a:t>5. Fail-Safe HOLD Trait Redirection</a:t>
            </a:r>
          </a:p>
          <a:p>
            <a:pPr>
              <a:spcAft>
                <a:spcPts val="600"/>
              </a:spcAft>
              <a:defRPr sz="1000">
                <a:solidFill>
                  <a:srgbClr val="282828"/>
                </a:solidFill>
              </a:defRPr>
            </a:pPr>
            <a:r>
              <a:rPr dirty="0"/>
              <a:t>Unrecognized or low-confidence configurations redirect safely to physical lockers for manual admin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920240"/>
            <a:ext cx="487649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02C57"/>
                </a:solidFill>
              </a:defRPr>
            </a:pPr>
            <a:r>
              <a:t>INTEGRATED SYSTEM SAFETY CONTROLS</a:t>
            </a:r>
          </a:p>
          <a:p>
            <a:pPr>
              <a:spcAft>
                <a:spcPts val="100"/>
              </a:spcAft>
              <a:defRPr sz="1100" b="1">
                <a:solidFill>
                  <a:srgbClr val="B43232"/>
                </a:solidFill>
              </a:defRPr>
            </a:pPr>
            <a:r>
              <a:t>🚨 Physical Emergency Stop Button</a:t>
            </a:r>
          </a:p>
          <a:p>
            <a:pPr>
              <a:spcAft>
                <a:spcPts val="500"/>
              </a:spcAft>
              <a:defRPr sz="1000">
                <a:solidFill>
                  <a:srgbClr val="282828"/>
                </a:solidFill>
              </a:defRPr>
            </a:pPr>
            <a:r>
              <a:t>Hardwired latching power cut-off relays terminate terminal actuator drive loops instantly without depending on OS systems.</a:t>
            </a:r>
          </a:p>
          <a:p>
            <a:pPr>
              <a:spcAft>
                <a:spcPts val="100"/>
              </a:spcAft>
              <a:defRPr sz="1100" b="1">
                <a:solidFill>
                  <a:srgbClr val="B43232"/>
                </a:solidFill>
              </a:defRPr>
            </a:pPr>
            <a:r>
              <a:t>🪡 Puncture-Shield Sharps Locker</a:t>
            </a:r>
          </a:p>
          <a:p>
            <a:pPr>
              <a:spcAft>
                <a:spcPts val="500"/>
              </a:spcAft>
              <a:defRPr sz="1000">
                <a:solidFill>
                  <a:srgbClr val="282828"/>
                </a:solidFill>
              </a:defRPr>
            </a:pPr>
            <a:r>
              <a:t>Heavy rigid polypropylene shell design with single-direction gravity gate mechanisms ensuring needles remain strictly unreachable.</a:t>
            </a:r>
          </a:p>
          <a:p>
            <a:pPr>
              <a:spcAft>
                <a:spcPts val="100"/>
              </a:spcAft>
              <a:defRPr sz="1100" b="1">
                <a:solidFill>
                  <a:srgbClr val="B43232"/>
                </a:solidFill>
              </a:defRPr>
            </a:pPr>
            <a:r>
              <a:t>⚙ Lid Interlock &amp; Obstruction Break</a:t>
            </a:r>
          </a:p>
          <a:p>
            <a:pPr>
              <a:spcAft>
                <a:spcPts val="500"/>
              </a:spcAft>
              <a:defRPr sz="1000">
                <a:solidFill>
                  <a:srgbClr val="282828"/>
                </a:solidFill>
              </a:defRPr>
            </a:pPr>
            <a:r>
              <a:t>Continuous motor feedback tracking algorithms pause active operations and emit local alerts if gate pathways encounter obstacles.</a:t>
            </a:r>
          </a:p>
          <a:p>
            <a:pPr>
              <a:spcAft>
                <a:spcPts val="100"/>
              </a:spcAft>
              <a:defRPr sz="1100" b="1">
                <a:solidFill>
                  <a:srgbClr val="B43232"/>
                </a:solidFill>
              </a:defRPr>
            </a:pPr>
            <a:r>
              <a:t>🛑 Volumetric Bin-Full Protection</a:t>
            </a:r>
          </a:p>
          <a:p>
            <a:pPr>
              <a:spcAft>
                <a:spcPts val="500"/>
              </a:spcAft>
              <a:defRPr sz="1000">
                <a:solidFill>
                  <a:srgbClr val="282828"/>
                </a:solidFill>
              </a:defRPr>
            </a:pPr>
            <a:r>
              <a:t>Integrated Time-of-Flight range tracking sensors completely lock input paths once capacities reach 85% bounds to block dangerous spill hazards.</a:t>
            </a:r>
          </a:p>
          <a:p>
            <a:pPr>
              <a:spcAft>
                <a:spcPts val="100"/>
              </a:spcAft>
              <a:defRPr sz="1100" b="1">
                <a:solidFill>
                  <a:srgbClr val="B43232"/>
                </a:solidFill>
              </a:defRPr>
            </a:pPr>
            <a:r>
              <a:t>📋 Non-Reputable Verification Audits</a:t>
            </a:r>
          </a:p>
          <a:p>
            <a:pPr>
              <a:spcAft>
                <a:spcPts val="500"/>
              </a:spcAft>
              <a:defRPr sz="1000">
                <a:solidFill>
                  <a:srgbClr val="282828"/>
                </a:solidFill>
              </a:defRPr>
            </a:pPr>
            <a:r>
              <a:t>Locally stored cryptographic logging structures timestamp classification traits to support regulatory compliance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2C57"/>
                </a:solidFill>
              </a:defRPr>
            </a:pPr>
            <a:r>
              <a:t>NAVIGATION LOGIC: 360° 2D LiDAR SLAM mapping + Visual Odometry Fusion + 0.2 m/s low-speed bumper paths inside clinical patient walkways.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AD8FD7-5A38-31AA-01A7-F2225E2CB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0" y="118767"/>
            <a:ext cx="737680" cy="804742"/>
          </a:xfrm>
          <a:prstGeom prst="rect">
            <a:avLst/>
          </a:prstGeom>
        </p:spPr>
      </p:pic>
      <p:pic>
        <p:nvPicPr>
          <p:cNvPr id="12" name="Picture 11" descr="image.jpg">
            <a:extLst>
              <a:ext uri="{FF2B5EF4-FFF2-40B4-BE49-F238E27FC236}">
                <a16:creationId xmlns:a16="http://schemas.microsoft.com/office/drawing/2014/main" id="{E48F9FC3-C9B5-F758-E7ED-A06A4B12F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09728"/>
            <a:ext cx="141732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33F780-EB8A-93E0-6AF7-EFD0F6FD3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6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0147" y="733074"/>
            <a:ext cx="993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  <a:latin typeface="Arial"/>
              </a:defRPr>
            </a:pPr>
            <a:r>
              <a:rPr dirty="0"/>
              <a:t>FEASIBILITY, SCALABILITY &amp; VALIDATION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7295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743200" cy="25603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rPr dirty="0"/>
              <a:t>Technical Feasibility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ROS2 Node Management: Seamless hardware system module coordination.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INT8-Quantized Edge Models: Latency bounds under 30ms running natively on Jetson nodes.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Independent RTOS Fallback: Dedicated STM32 layers managing system interlock safety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743200" cy="2560320"/>
          </a:xfrm>
          <a:prstGeom prst="roundRect">
            <a:avLst/>
          </a:prstGeom>
          <a:solidFill>
            <a:srgbClr val="F2F8F2"/>
          </a:solidFill>
          <a:ln w="19050"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rPr dirty="0"/>
              <a:t>Operational Viability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Standard Routine Interlock: Syncs cleanly into baseline daily nursery cleaning cycles.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Remote Admin Control: Immediate MQTT hold notification loops dispatching verification files.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Harsh Disinfection Proof: IP65-sealed antimicrobic enclosures tolerate caustic sanitation procedures.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2743200" cy="2560320"/>
          </a:xfrm>
          <a:prstGeom prst="roundRect">
            <a:avLst/>
          </a:prstGeom>
          <a:solidFill>
            <a:srgbClr val="FFF5EB"/>
          </a:solidFill>
          <a:ln w="1905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rPr dirty="0"/>
              <a:t>Cost &amp; Scalability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COTS Hardware Optimization: Heavy use of off-the-shelf industrial components cuts initial </a:t>
            </a:r>
            <a:r>
              <a:rPr dirty="0" err="1"/>
              <a:t>CapEx</a:t>
            </a:r>
            <a:r>
              <a:rPr dirty="0"/>
              <a:t> spikes.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Hot-Swappable Chassis: Single drive platform accepts separate customized container bins.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Modular Maintenance Footprint: Sub-assembly swapping architecture reduces local maintenance repair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645920"/>
            <a:ext cx="2499055" cy="256032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C8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rPr dirty="0"/>
              <a:t>Fusion-Ready Product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DFM Optimized Structures: Lightweight bent sheet frames paired with modular enclosures.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Digital Stress Simulations: Rigorous structural FEA validations alongside thermal cooling studies.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Factory Engineering Maps: Complete component tolerance stack-ups ensure production 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352" y="4370832"/>
            <a:ext cx="11277295" cy="1133856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102C57"/>
                </a:solidFill>
              </a:defRPr>
            </a:pPr>
            <a:r>
              <a:t>PHASED IMPLEMENTATION &amp; FIELD VALIDATION ROADMAP</a:t>
            </a:r>
          </a:p>
          <a:p>
            <a:pPr>
              <a:spcAft>
                <a:spcPts val="300"/>
              </a:spcAft>
              <a:defRPr sz="1050">
                <a:solidFill>
                  <a:srgbClr val="282828"/>
                </a:solidFill>
              </a:defRPr>
            </a:pPr>
            <a:r>
              <a:t>▶ Phase 1: SOP Codification: Hospital corridor data synthesis + CPCB regulation logic mapping.</a:t>
            </a:r>
          </a:p>
          <a:p>
            <a:pPr>
              <a:spcAft>
                <a:spcPts val="300"/>
              </a:spcAft>
              <a:defRPr sz="1050">
                <a:solidFill>
                  <a:srgbClr val="282828"/>
                </a:solidFill>
              </a:defRPr>
            </a:pPr>
            <a:r>
              <a:t>▶ Phase 2: Edge Training: Aggregate 10k annotated clinical sorting images for high-accuracy baselines.</a:t>
            </a:r>
          </a:p>
          <a:p>
            <a:pPr>
              <a:spcAft>
                <a:spcPts val="300"/>
              </a:spcAft>
              <a:defRPr sz="1050">
                <a:solidFill>
                  <a:srgbClr val="282828"/>
                </a:solidFill>
              </a:defRPr>
            </a:pPr>
            <a:r>
              <a:t>▶ Phase 3: Bench Assembly: Incorporate power cut-offs, sensor hubs, and mechanical sorting interlocks.</a:t>
            </a:r>
          </a:p>
          <a:p>
            <a:pPr>
              <a:spcAft>
                <a:spcPts val="300"/>
              </a:spcAft>
              <a:defRPr sz="1050">
                <a:solidFill>
                  <a:srgbClr val="282828"/>
                </a:solidFill>
              </a:defRPr>
            </a:pPr>
            <a:r>
              <a:t>▶ Phase 4: Pilot Test: Launch month-long live trials on active floors to track spatial navigation and KPIs.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79"/>
            <a:ext cx="11277295" cy="1133855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02C57"/>
                </a:solidFill>
                <a:latin typeface="Arial"/>
              </a:defRPr>
            </a:pPr>
            <a:r>
              <a:rPr dirty="0"/>
              <a:t>Target Strategic Impact Framework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Personnel Protection: Eradicates worker direct puncture risks and contact exposures.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Incinerator Optimization: Eliminates plastic cross-loading to cut harmful carbon emission streams.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rPr dirty="0"/>
              <a:t>• Automated Regulatory Integrity: Transparent logging systems provide instantly exportable, audit-compliant report matrices.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BA9FDB-2F55-681B-403E-8E5760CD7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4" y="106834"/>
            <a:ext cx="737680" cy="804742"/>
          </a:xfrm>
          <a:prstGeom prst="rect">
            <a:avLst/>
          </a:prstGeom>
        </p:spPr>
      </p:pic>
      <p:pic>
        <p:nvPicPr>
          <p:cNvPr id="14" name="Picture 13" descr="image.jpg">
            <a:extLst>
              <a:ext uri="{FF2B5EF4-FFF2-40B4-BE49-F238E27FC236}">
                <a16:creationId xmlns:a16="http://schemas.microsoft.com/office/drawing/2014/main" id="{AE77C023-5AE1-24F4-77DA-2233349D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09728"/>
            <a:ext cx="141732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BAF869-B618-759F-71C5-844384F69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72" y="-18399"/>
            <a:ext cx="11352928" cy="6858000"/>
          </a:xfrm>
          <a:prstGeom prst="rect">
            <a:avLst/>
          </a:prstGeom>
        </p:spPr>
      </p:pic>
      <p:pic>
        <p:nvPicPr>
          <p:cNvPr id="7" name="Picture 6" descr="hack_nova_x_logo_clean.jpg">
            <a:extLst>
              <a:ext uri="{FF2B5EF4-FFF2-40B4-BE49-F238E27FC236}">
                <a16:creationId xmlns:a16="http://schemas.microsoft.com/office/drawing/2014/main" id="{67F63F0B-F437-705D-CC9D-6B7A647C8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40" y="142203"/>
            <a:ext cx="713232" cy="886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8D326-F6AF-5913-375D-8BB675526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730" y="18399"/>
            <a:ext cx="1414395" cy="64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91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793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saravana selvan</dc:creator>
  <cp:keywords/>
  <dc:description>generated using python-pptx</dc:description>
  <cp:lastModifiedBy>saravana selvan</cp:lastModifiedBy>
  <cp:revision>4</cp:revision>
  <dcterms:created xsi:type="dcterms:W3CDTF">2013-01-27T09:14:16Z</dcterms:created>
  <dcterms:modified xsi:type="dcterms:W3CDTF">2026-08-30T06:19:26Z</dcterms:modified>
  <cp:category/>
</cp:coreProperties>
</file>